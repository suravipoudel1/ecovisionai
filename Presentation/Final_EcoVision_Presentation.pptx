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1" r:id="rId4"/>
    <p:sldId id="262" r:id="rId5"/>
    <p:sldId id="263" r:id="rId6"/>
    <p:sldId id="264" r:id="rId7"/>
    <p:sldId id="267" r:id="rId8"/>
    <p:sldId id="268" r:id="rId9"/>
    <p:sldId id="265" r:id="rId10"/>
    <p:sldId id="266" r:id="rId11"/>
    <p:sldId id="260" r:id="rId12"/>
  </p:sldIdLst>
  <p:sldSz cx="9144000" cy="5143500" type="screen16x9"/>
  <p:notesSz cx="6858000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52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85B"/>
    <a:srgbClr val="005EAE"/>
    <a:srgbClr val="0E73B9"/>
    <a:srgbClr val="3E6D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56"/>
    <p:restoredTop sz="94694" autoAdjust="0"/>
  </p:normalViewPr>
  <p:slideViewPr>
    <p:cSldViewPr snapToGrid="0" showGuides="1">
      <p:cViewPr varScale="1">
        <p:scale>
          <a:sx n="106" d="100"/>
          <a:sy n="106" d="100"/>
        </p:scale>
        <p:origin x="806" y="72"/>
      </p:cViewPr>
      <p:guideLst>
        <p:guide orient="horz" pos="3239"/>
        <p:guide pos="52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9" d="100"/>
          <a:sy n="59" d="100"/>
        </p:scale>
        <p:origin x="3298" y="77"/>
      </p:cViewPr>
      <p:guideLst>
        <p:guide orient="horz" pos="313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22876" y="9449911"/>
            <a:ext cx="835124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  <a:cs typeface="Arial" panose="020B0604020202020204" pitchFamily="34" charset="0"/>
              </a:defRPr>
            </a:lvl1pPr>
          </a:lstStyle>
          <a:p>
            <a:fld id="{49DD4D23-C98A-435E-AE88-9061F8349B0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0033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E5F0004-D86A-492A-96FD-D7E8DB1FF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FBEFD91-8392-4AAE-B9A6-CBD49A6A5F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7F5FF22-ECD1-4F6D-8E97-0B12413963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C52E2AB-CFDD-438E-A7A0-62679F5320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EAA7D0A-F60C-40D8-A60C-C980806E6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6771123-0331-4514-B6DF-24EFEF985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6B24CFD-2F50-41EB-9961-ECF81DF87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98C0270-5B16-4A64-A31A-67CA7EAEFD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EE875DA-30C2-42C3-B114-66DA1942A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0FA3515-AD84-42F4-B29C-D36F270135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528CE35-1717-4B42-AA2E-45D00859E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9144000" cy="219307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767" y="2457907"/>
            <a:ext cx="7500939" cy="416138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767" y="2892920"/>
            <a:ext cx="7500938" cy="271350"/>
          </a:xfrm>
        </p:spPr>
        <p:txBody>
          <a:bodyPr/>
          <a:lstStyle>
            <a:lvl1pPr marL="0" indent="0" algn="l">
              <a:buNone/>
              <a:defRPr sz="16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ga-IE" dirty="0"/>
              <a:t>Click to edit Master subtitle style</a:t>
            </a:r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69767" y="3352888"/>
            <a:ext cx="4679325" cy="713346"/>
          </a:xfrm>
        </p:spPr>
        <p:txBody>
          <a:bodyPr anchor="b"/>
          <a:lstStyle>
            <a:lvl1pPr>
              <a:spcBef>
                <a:spcPts val="0"/>
              </a:spcBef>
              <a:defRPr sz="1600">
                <a:solidFill>
                  <a:srgbClr val="005EAE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0" indent="0">
              <a:spcBef>
                <a:spcPts val="567"/>
              </a:spcBef>
              <a:buNone/>
              <a:defRPr sz="160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spcBef>
                <a:spcPts val="0"/>
              </a:spcBef>
              <a:defRPr sz="14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ga-IE" dirty="0"/>
              <a:t>Click to edit Master text styles</a:t>
            </a:r>
          </a:p>
          <a:p>
            <a:pPr lvl="1"/>
            <a:r>
              <a:rPr lang="ga-IE" dirty="0"/>
              <a:t>Second level</a:t>
            </a:r>
          </a:p>
          <a:p>
            <a:pPr lvl="2"/>
            <a:r>
              <a:rPr lang="ga-IE" dirty="0"/>
              <a:t>Third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EE005F-84C2-4FB0-A8FA-2AFD10D0C317}"/>
              </a:ext>
            </a:extLst>
          </p:cNvPr>
          <p:cNvSpPr/>
          <p:nvPr userDrawn="1"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0188FF0-386C-49AB-9625-D58BFBABCE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08" y="136830"/>
            <a:ext cx="3816927" cy="7633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5EDD42-14DE-45E5-BA60-F47F90269C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3" y="4601535"/>
            <a:ext cx="1408670" cy="448003"/>
          </a:xfrm>
          <a:prstGeom prst="rect">
            <a:avLst/>
          </a:prstGeom>
        </p:spPr>
      </p:pic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94C29EC-45F4-4DE5-906E-36812C0368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3080" y="4843693"/>
            <a:ext cx="2050677" cy="356673"/>
          </a:xfrm>
        </p:spPr>
        <p:txBody>
          <a:bodyPr anchor="b"/>
          <a:lstStyle>
            <a:lvl1pPr algn="ctr">
              <a:spcBef>
                <a:spcPts val="0"/>
              </a:spcBef>
              <a:defRPr sz="2400" baseline="30000">
                <a:solidFill>
                  <a:srgbClr val="005EAE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accent2"/>
                </a:solidFill>
              </a:defRPr>
            </a:lvl2pPr>
            <a:lvl3pPr marL="0" indent="0">
              <a:spcBef>
                <a:spcPts val="567"/>
              </a:spcBef>
              <a:buNone/>
              <a:defRPr sz="1600">
                <a:solidFill>
                  <a:schemeClr val="accent2"/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3rd International Conference 2026</a:t>
            </a:r>
            <a:endParaRPr lang="ga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18457D-08A6-DDDC-4319-466C17B3CC6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5" y="136830"/>
            <a:ext cx="1743953" cy="80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7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56342" y="1410806"/>
            <a:ext cx="7973271" cy="3030141"/>
          </a:xfrm>
        </p:spPr>
        <p:txBody>
          <a:bodyPr/>
          <a:lstStyle/>
          <a:p>
            <a:pPr lvl="0"/>
            <a:r>
              <a:rPr lang="ga-IE" dirty="0"/>
              <a:t>Click to edit Master text styles</a:t>
            </a:r>
          </a:p>
          <a:p>
            <a:pPr lvl="1"/>
            <a:r>
              <a:rPr lang="ga-IE" dirty="0"/>
              <a:t>Second level</a:t>
            </a:r>
          </a:p>
          <a:p>
            <a:pPr lvl="2"/>
            <a:r>
              <a:rPr lang="ga-IE" dirty="0"/>
              <a:t>Third level</a:t>
            </a:r>
          </a:p>
          <a:p>
            <a:pPr lvl="3"/>
            <a:r>
              <a:rPr lang="ga-IE" dirty="0"/>
              <a:t>Fourth level</a:t>
            </a:r>
          </a:p>
          <a:p>
            <a:pPr lvl="4"/>
            <a:r>
              <a:rPr lang="ga-IE" dirty="0"/>
              <a:t>Fifth level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356342" y="685802"/>
            <a:ext cx="7973271" cy="207169"/>
          </a:xfrm>
        </p:spPr>
        <p:txBody>
          <a:bodyPr/>
          <a:lstStyle>
            <a:lvl1pPr>
              <a:defRPr sz="1600" b="0">
                <a:solidFill>
                  <a:srgbClr val="005EAE"/>
                </a:solidFill>
              </a:defRPr>
            </a:lvl1pPr>
          </a:lstStyle>
          <a:p>
            <a:pPr lvl="0"/>
            <a:r>
              <a:rPr lang="ga-IE" dirty="0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EA4C49F-976B-EBF4-08DC-3AFEDDA63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46359" y="4526920"/>
            <a:ext cx="1095936" cy="59723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40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DDBE135E-2566-4748-853C-8A3B78F0FB00}" type="slidenum">
              <a:rPr lang="en-GB" smtClean="0"/>
              <a:pPr/>
              <a:t>‹#›</a:t>
            </a:fld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57300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939200" y="1457325"/>
            <a:ext cx="4204800" cy="3087749"/>
          </a:xfrm>
          <a:solidFill>
            <a:schemeClr val="accent4"/>
          </a:solidFill>
        </p:spPr>
        <p:txBody>
          <a:bodyPr tIns="0" anchor="ctr" anchorCtr="0"/>
          <a:lstStyle>
            <a:lvl1pPr algn="ctr">
              <a:defRPr sz="1600" b="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5EAE"/>
                </a:solidFill>
              </a:defRPr>
            </a:lvl1pPr>
          </a:lstStyle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56342" y="1428750"/>
            <a:ext cx="4291864" cy="2990766"/>
          </a:xfrm>
        </p:spPr>
        <p:txBody>
          <a:bodyPr/>
          <a:lstStyle>
            <a:lvl1pPr marL="238125" indent="-238125">
              <a:spcBef>
                <a:spcPts val="85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sz="1600" b="0"/>
            </a:lvl1pPr>
            <a:lvl2pPr marL="503238" indent="-207963">
              <a:spcBef>
                <a:spcPts val="0"/>
              </a:spcBef>
              <a:spcAft>
                <a:spcPts val="567"/>
              </a:spcAft>
              <a:defRPr sz="1600" b="0"/>
            </a:lvl2pPr>
            <a:lvl3pPr>
              <a:defRPr sz="1400" b="0"/>
            </a:lvl3pPr>
            <a:lvl4pPr>
              <a:defRPr sz="1400" b="0"/>
            </a:lvl4pPr>
            <a:lvl5pPr>
              <a:defRPr sz="1400" b="0"/>
            </a:lvl5pPr>
          </a:lstStyle>
          <a:p>
            <a:pPr lvl="0"/>
            <a:r>
              <a:rPr lang="ga-IE" dirty="0"/>
              <a:t>Click to edit Master text styles</a:t>
            </a:r>
          </a:p>
          <a:p>
            <a:pPr lvl="1"/>
            <a:r>
              <a:rPr lang="ga-IE" dirty="0"/>
              <a:t>Second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356342" y="685802"/>
            <a:ext cx="7973271" cy="207169"/>
          </a:xfrm>
        </p:spPr>
        <p:txBody>
          <a:bodyPr/>
          <a:lstStyle>
            <a:lvl1pPr>
              <a:defRPr sz="1600" b="0">
                <a:solidFill>
                  <a:srgbClr val="005EAE"/>
                </a:solidFill>
              </a:defRPr>
            </a:lvl1pPr>
          </a:lstStyle>
          <a:p>
            <a:pPr lvl="0"/>
            <a:r>
              <a:rPr lang="ga-IE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E55CCA-784C-4E30-8B9C-B49D966B0709}"/>
              </a:ext>
            </a:extLst>
          </p:cNvPr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7085F91-BC94-4291-85EB-C0513811A709}"/>
              </a:ext>
            </a:extLst>
          </p:cNvPr>
          <p:cNvSpPr/>
          <p:nvPr userDrawn="1"/>
        </p:nvSpPr>
        <p:spPr>
          <a:xfrm>
            <a:off x="0" y="4574884"/>
            <a:ext cx="9144000" cy="59723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09908D-E6DC-46F8-A4C2-EFF810FA69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568050"/>
            <a:ext cx="1711234" cy="544228"/>
          </a:xfrm>
          <a:prstGeom prst="rect">
            <a:avLst/>
          </a:prstGeom>
        </p:spPr>
      </p:pic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3A3FD1A-0EE2-9BEA-DE66-D63EAEDD0B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7876" y="4695163"/>
            <a:ext cx="3919818" cy="356673"/>
          </a:xfrm>
        </p:spPr>
        <p:txBody>
          <a:bodyPr anchor="b"/>
          <a:lstStyle>
            <a:lvl1pPr algn="ctr">
              <a:spcBef>
                <a:spcPts val="0"/>
              </a:spcBef>
              <a:defRPr sz="2400" baseline="30000">
                <a:solidFill>
                  <a:srgbClr val="005EAE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accent2"/>
                </a:solidFill>
              </a:defRPr>
            </a:lvl2pPr>
            <a:lvl3pPr marL="0" indent="0">
              <a:spcBef>
                <a:spcPts val="567"/>
              </a:spcBef>
              <a:buNone/>
              <a:defRPr sz="1600">
                <a:solidFill>
                  <a:schemeClr val="accent2"/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3rd International Conference 2026</a:t>
            </a:r>
            <a:endParaRPr lang="ga-I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B41C0FE-DFF8-273B-EFF5-8FA63B76D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46359" y="4526920"/>
            <a:ext cx="1095936" cy="59723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40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DDBE135E-2566-4748-853C-8A3B78F0FB00}" type="slidenum">
              <a:rPr lang="en-GB" smtClean="0"/>
              <a:pPr/>
              <a:t>‹#›</a:t>
            </a:fld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282368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076880"/>
            <a:ext cx="9144000" cy="3407478"/>
          </a:xfrm>
          <a:solidFill>
            <a:schemeClr val="accent4"/>
          </a:solidFill>
        </p:spPr>
        <p:txBody>
          <a:bodyPr tIns="0" anchor="ctr" anchorCtr="0"/>
          <a:lstStyle>
            <a:lvl1pPr algn="ctr">
              <a:defRPr sz="1600" b="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5EAE"/>
                </a:solidFill>
              </a:defRPr>
            </a:lvl1pPr>
          </a:lstStyle>
          <a:p>
            <a:r>
              <a:rPr lang="ga-IE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356342" y="685802"/>
            <a:ext cx="7973271" cy="207169"/>
          </a:xfrm>
        </p:spPr>
        <p:txBody>
          <a:bodyPr/>
          <a:lstStyle>
            <a:lvl1pPr>
              <a:defRPr sz="1600" b="0">
                <a:solidFill>
                  <a:srgbClr val="005EAE"/>
                </a:solidFill>
              </a:defRPr>
            </a:lvl1pPr>
          </a:lstStyle>
          <a:p>
            <a:pPr lvl="0"/>
            <a:r>
              <a:rPr lang="ga-IE" dirty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97CAE0-9C21-4B7D-AC99-95A2733A2305}"/>
              </a:ext>
            </a:extLst>
          </p:cNvPr>
          <p:cNvSpPr/>
          <p:nvPr userDrawn="1"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BA6EDD-8F92-4FD1-B7B9-9FF10128AF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5" y="4626026"/>
            <a:ext cx="1873076" cy="37461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CF0E5E-1A53-48BB-8A2F-A22B129BBAA4}"/>
              </a:ext>
            </a:extLst>
          </p:cNvPr>
          <p:cNvCxnSpPr/>
          <p:nvPr userDrawn="1"/>
        </p:nvCxnSpPr>
        <p:spPr>
          <a:xfrm>
            <a:off x="0" y="1034256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D42CE27-EFA2-95CF-5137-3F31785C58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7876" y="4695163"/>
            <a:ext cx="3919818" cy="356673"/>
          </a:xfrm>
        </p:spPr>
        <p:txBody>
          <a:bodyPr anchor="b"/>
          <a:lstStyle>
            <a:lvl1pPr algn="ctr">
              <a:spcBef>
                <a:spcPts val="0"/>
              </a:spcBef>
              <a:defRPr sz="2400" baseline="30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accent2"/>
                </a:solidFill>
              </a:defRPr>
            </a:lvl2pPr>
            <a:lvl3pPr marL="0" indent="0">
              <a:spcBef>
                <a:spcPts val="567"/>
              </a:spcBef>
              <a:buNone/>
              <a:defRPr sz="1600">
                <a:solidFill>
                  <a:schemeClr val="accent2"/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3rd International Conference 2026</a:t>
            </a:r>
            <a:endParaRPr lang="ga-IE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E057E75-18E4-3117-E65B-A329CEE3D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46359" y="4526920"/>
            <a:ext cx="1095936" cy="59723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40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DDBE135E-2566-4748-853C-8A3B78F0FB00}" type="slidenum">
              <a:rPr lang="en-GB" smtClean="0"/>
              <a:pPr/>
              <a:t>‹#›</a:t>
            </a:fld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13861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679" y="2786399"/>
            <a:ext cx="7500939" cy="846297"/>
          </a:xfrm>
        </p:spPr>
        <p:txBody>
          <a:bodyPr/>
          <a:lstStyle>
            <a:lvl1pPr algn="l">
              <a:defRPr sz="4200">
                <a:solidFill>
                  <a:srgbClr val="005EAE"/>
                </a:solidFill>
              </a:defRPr>
            </a:lvl1pPr>
          </a:lstStyle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4873500"/>
            <a:ext cx="9144000" cy="270000"/>
          </a:xfrm>
          <a:prstGeom prst="rect">
            <a:avLst/>
          </a:prstGeom>
          <a:solidFill>
            <a:srgbClr val="005EA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219307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B0D008-112C-4BFF-A865-DBF682902E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08" y="260099"/>
            <a:ext cx="3816927" cy="7633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D45AB8-F470-4402-8390-13509F36E5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395" y="4366404"/>
            <a:ext cx="1408670" cy="4480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538ED5-581C-888C-AE99-08CEC164F96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5" y="117683"/>
            <a:ext cx="1817911" cy="834593"/>
          </a:xfrm>
          <a:prstGeom prst="rect">
            <a:avLst/>
          </a:prstGeom>
        </p:spPr>
      </p:pic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D529791-EC84-2A39-6B17-8A01E5546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4244" y="4590405"/>
            <a:ext cx="2050677" cy="356673"/>
          </a:xfrm>
        </p:spPr>
        <p:txBody>
          <a:bodyPr anchor="b"/>
          <a:lstStyle>
            <a:lvl1pPr algn="ctr">
              <a:spcBef>
                <a:spcPts val="0"/>
              </a:spcBef>
              <a:defRPr sz="2400" baseline="30000">
                <a:solidFill>
                  <a:srgbClr val="005EAE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accent2"/>
                </a:solidFill>
              </a:defRPr>
            </a:lvl2pPr>
            <a:lvl3pPr marL="0" indent="0">
              <a:spcBef>
                <a:spcPts val="567"/>
              </a:spcBef>
              <a:buNone/>
              <a:defRPr sz="1600">
                <a:solidFill>
                  <a:schemeClr val="accent2"/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3rd International Conference 2026</a:t>
            </a:r>
            <a:endParaRPr lang="ga-IE" dirty="0"/>
          </a:p>
        </p:txBody>
      </p:sp>
    </p:spTree>
    <p:extLst>
      <p:ext uri="{BB962C8B-B14F-4D97-AF65-F5344CB8AC3E}">
        <p14:creationId xmlns:p14="http://schemas.microsoft.com/office/powerpoint/2010/main" val="547789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5EAE"/>
                </a:solidFill>
              </a:defRPr>
            </a:lvl1pPr>
          </a:lstStyle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C592D57-1768-D0AE-E2BF-B6A3EB084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46359" y="4526920"/>
            <a:ext cx="1095936" cy="59723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40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DDBE135E-2566-4748-853C-8A3B78F0FB00}" type="slidenum">
              <a:rPr lang="en-GB" smtClean="0"/>
              <a:pPr/>
              <a:t>‹#›</a:t>
            </a:fld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75774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&amp; 2 Column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56347" y="1410809"/>
            <a:ext cx="8000253" cy="2732569"/>
          </a:xfrm>
        </p:spPr>
        <p:txBody>
          <a:bodyPr/>
          <a:lstStyle>
            <a:lvl1pPr marL="0" indent="0" rtl="0">
              <a:spcBef>
                <a:spcPts val="900"/>
              </a:spcBef>
              <a:buClr>
                <a:schemeClr val="tx2"/>
              </a:buClr>
              <a:buSzPts val="2000"/>
              <a:buFont typeface="Arial"/>
              <a:buNone/>
              <a:defRPr sz="2000" b="1"/>
            </a:lvl1pPr>
            <a:lvl2pPr marL="625475" indent="-233363" rtl="0">
              <a:buSzPts val="2000"/>
              <a:buFont typeface="Minion Pro"/>
              <a:buChar char="‒"/>
              <a:defRPr sz="2000"/>
            </a:lvl2pPr>
            <a:lvl3pPr marL="912813" indent="-222250" rtl="0">
              <a:buSzPts val="2000"/>
              <a:buFont typeface="Arial"/>
              <a:buChar char="»"/>
              <a:defRPr sz="2000"/>
            </a:lvl3pPr>
            <a:lvl4pPr marL="1128713" indent="-190500">
              <a:defRPr sz="2000"/>
            </a:lvl4pPr>
            <a:lvl5pPr marL="1439863" indent="-185738">
              <a:defRPr sz="2000"/>
            </a:lvl5pPr>
          </a:lstStyle>
          <a:p>
            <a:pPr lvl="0"/>
            <a:r>
              <a:rPr lang="ga-IE" dirty="0"/>
              <a:t>Click to edit Master text styles</a:t>
            </a:r>
          </a:p>
          <a:p>
            <a:pPr lvl="1"/>
            <a:r>
              <a:rPr lang="ga-IE" dirty="0"/>
              <a:t>Second level</a:t>
            </a:r>
          </a:p>
          <a:p>
            <a:pPr lvl="2"/>
            <a:r>
              <a:rPr lang="ga-IE" dirty="0"/>
              <a:t>Third level</a:t>
            </a:r>
          </a:p>
          <a:p>
            <a:pPr lvl="3"/>
            <a:r>
              <a:rPr lang="ga-IE" dirty="0"/>
              <a:t>Fourth level</a:t>
            </a:r>
          </a:p>
          <a:p>
            <a:pPr lvl="4"/>
            <a:r>
              <a:rPr lang="ga-IE" dirty="0"/>
              <a:t>Fifth level</a:t>
            </a:r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356342" y="685802"/>
            <a:ext cx="7973271" cy="207169"/>
          </a:xfrm>
        </p:spPr>
        <p:txBody>
          <a:bodyPr/>
          <a:lstStyle>
            <a:lvl1pPr>
              <a:defRPr sz="1600" b="0">
                <a:solidFill>
                  <a:srgbClr val="005EAE"/>
                </a:solidFill>
              </a:defRPr>
            </a:lvl1pPr>
          </a:lstStyle>
          <a:p>
            <a:pPr lvl="0"/>
            <a:r>
              <a:rPr lang="ga-IE" dirty="0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9CF68-79B0-4AE5-80CB-DDAD28D28BBC}"/>
              </a:ext>
            </a:extLst>
          </p:cNvPr>
          <p:cNvSpPr/>
          <p:nvPr userDrawn="1"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64B9B-5E3C-44F1-AA3B-F13AE6F791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5" y="4626026"/>
            <a:ext cx="1873076" cy="37461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F5DFDE-C3F8-4B28-A26F-16E14AC7E868}"/>
              </a:ext>
            </a:extLst>
          </p:cNvPr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CDAE68E-B54E-01FB-198E-3D738DE16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95106" y="4695163"/>
            <a:ext cx="3919818" cy="356673"/>
          </a:xfrm>
        </p:spPr>
        <p:txBody>
          <a:bodyPr anchor="b"/>
          <a:lstStyle>
            <a:lvl1pPr algn="ctr">
              <a:spcBef>
                <a:spcPts val="0"/>
              </a:spcBef>
              <a:defRPr sz="2400" baseline="30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accent2"/>
                </a:solidFill>
              </a:defRPr>
            </a:lvl2pPr>
            <a:lvl3pPr marL="0" indent="0">
              <a:spcBef>
                <a:spcPts val="567"/>
              </a:spcBef>
              <a:buNone/>
              <a:defRPr sz="1600">
                <a:solidFill>
                  <a:schemeClr val="accent2"/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3rd International Conference 2026</a:t>
            </a:r>
            <a:endParaRPr lang="ga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1192D-CB5F-8D4D-EB44-51A8517FA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46359" y="4526920"/>
            <a:ext cx="1095936" cy="59723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40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DDBE135E-2566-4748-853C-8A3B78F0FB00}" type="slidenum">
              <a:rPr lang="en-GB" smtClean="0"/>
              <a:pPr/>
              <a:t>‹#›</a:t>
            </a:fld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786768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6347" y="270000"/>
            <a:ext cx="7973271" cy="4212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559" y="1403663"/>
            <a:ext cx="8027054" cy="3072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7067A8-1EFE-4446-89BE-26BD2C5F9AE0}"/>
              </a:ext>
            </a:extLst>
          </p:cNvPr>
          <p:cNvSpPr/>
          <p:nvPr userDrawn="1"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7DA9EA-A61A-4869-90D9-5220EDD0AB6B}"/>
              </a:ext>
            </a:extLst>
          </p:cNvPr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4000672-382A-4E04-A4C9-79D3EDCBDA53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568050"/>
            <a:ext cx="1711234" cy="544228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7484DB0-45F3-CD1B-709F-888ECC917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46359" y="4526920"/>
            <a:ext cx="1095936" cy="59723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40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DDBE135E-2566-4748-853C-8A3B78F0FB00}" type="slidenum">
              <a:rPr lang="en-GB" smtClean="0"/>
              <a:pPr/>
              <a:t>‹#›</a:t>
            </a:fld>
            <a:endParaRPr lang="en-GB" b="1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234B5B2-282E-E349-B802-53EA00D9B460}"/>
              </a:ext>
            </a:extLst>
          </p:cNvPr>
          <p:cNvSpPr txBox="1">
            <a:spLocks/>
          </p:cNvSpPr>
          <p:nvPr userDrawn="1"/>
        </p:nvSpPr>
        <p:spPr>
          <a:xfrm>
            <a:off x="2528047" y="4767478"/>
            <a:ext cx="3919818" cy="356673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2400" b="1" kern="1200" baseline="30000">
                <a:solidFill>
                  <a:srgbClr val="005EAE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567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784225" indent="-201613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Minion Pro" pitchFamily="18" charset="0"/>
              <a:buChar char="‒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00125" indent="-185738" algn="l" defTabSz="914400" rtl="0" eaLnBrk="1" latinLnBrk="0" hangingPunct="1"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»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3rd International Conference 2026</a:t>
            </a:r>
            <a:endParaRPr lang="ga-IE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06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9" r:id="rId5"/>
    <p:sldLayoutId id="2147483654" r:id="rId6"/>
    <p:sldLayoutId id="2147483661" r:id="rId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rgbClr val="0E73B9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0" indent="0" algn="l" defTabSz="914400" rtl="0" eaLnBrk="1" latinLnBrk="0" hangingPunct="1">
        <a:spcBef>
          <a:spcPts val="1417"/>
        </a:spcBef>
        <a:buFont typeface="Arial" pitchFamily="34" charset="0"/>
        <a:buNone/>
        <a:defRPr sz="2000" b="1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317500" indent="-317500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568325" indent="-222250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784225" indent="-201613" algn="l" defTabSz="914400" rtl="0" eaLnBrk="1" latinLnBrk="0" hangingPunct="1">
        <a:spcBef>
          <a:spcPts val="1134"/>
        </a:spcBef>
        <a:buClr>
          <a:schemeClr val="tx2"/>
        </a:buClr>
        <a:buFont typeface="Minion Pro" pitchFamily="18" charset="0"/>
        <a:buChar char="‒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1000125" indent="-185738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»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4801" y="2277600"/>
            <a:ext cx="7900939" cy="980000"/>
          </a:xfrm>
        </p:spPr>
        <p:txBody>
          <a:bodyPr>
            <a:normAutofit fontScale="92000"/>
          </a:bodyPr>
          <a:lstStyle/>
          <a:p>
            <a:r>
              <a:rPr lang="en-GB" sz="1900" b="1" dirty="0"/>
              <a:t>EcoVision AI:  An Integrated Artificial Intelligence Framework for Brick Kiln Classification and Environmental Pattern Analysis Using Multi-Spectral Satellite Imagery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44801" y="3480000"/>
            <a:ext cx="6500000" cy="787618"/>
          </a:xfrm>
        </p:spPr>
        <p:txBody>
          <a:bodyPr/>
          <a:lstStyle/>
          <a:p>
            <a:r>
              <a:rPr lang="en-GB" dirty="0"/>
              <a:t>Suravi Poudel</a:t>
            </a:r>
          </a:p>
          <a:p>
            <a:pPr lvl="1"/>
            <a:r>
              <a:rPr lang="en-GB" dirty="0"/>
              <a:t>BSc CSIT, St. Xavier’s College, Maitighar</a:t>
            </a:r>
          </a:p>
          <a:p>
            <a:pPr lvl="2"/>
            <a:r>
              <a:rPr lang="en-GB" dirty="0"/>
              <a:t>ICSXC 2026 · 24–25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77279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77" y="349377"/>
            <a:ext cx="7906036" cy="421200"/>
          </a:xfrm>
        </p:spPr>
        <p:txBody>
          <a:bodyPr/>
          <a:lstStyle/>
          <a:p>
            <a:r>
              <a:rPr lang="en-GB" b="1" dirty="0"/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77371" y="1271154"/>
            <a:ext cx="8169088" cy="3030141"/>
          </a:xfrm>
        </p:spPr>
        <p:txBody>
          <a:bodyPr/>
          <a:lstStyle/>
          <a:p>
            <a:r>
              <a:rPr lang="en-US" sz="1700" b="1" dirty="0"/>
              <a:t>A major, under-monitored source of air pollution in the Kathmandu Valley</a:t>
            </a:r>
          </a:p>
          <a:p>
            <a:pPr lvl="1"/>
            <a:r>
              <a:rPr lang="en-US" sz="1600" dirty="0"/>
              <a:t>~600 premature deaths/year in Nepal; ~$28M/year in healthcare costs in the Valley (Eil et al., 2020)</a:t>
            </a:r>
          </a:p>
          <a:p>
            <a:pPr lvl="1"/>
            <a:r>
              <a:rPr lang="en-US" sz="1600" dirty="0"/>
              <a:t>Field-based monitoring campaigns such as </a:t>
            </a:r>
            <a:r>
              <a:rPr lang="en-US" sz="1600" dirty="0" err="1"/>
              <a:t>NAMaSTE</a:t>
            </a:r>
            <a:r>
              <a:rPr lang="en-US" sz="1600" dirty="0"/>
              <a:t> are valuable but difficult to scale and repeat frequently.</a:t>
            </a:r>
          </a:p>
          <a:p>
            <a:pPr lvl="1"/>
            <a:r>
              <a:rPr lang="en-US" sz="1600" dirty="0"/>
              <a:t>Kiln detection works well in Bangladesh (94.2% accuracy, Lee et al. 2021) — but Kathmandu-specific cross-regional evaluation remains underexplored</a:t>
            </a:r>
          </a:p>
          <a:p>
            <a:pPr lvl="1"/>
            <a:r>
              <a:rPr lang="en-US" sz="1600" dirty="0"/>
              <a:t>Free Sentinel-2 imagery + Google Earth Engine enable automated, low-cost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</p:spPr>
        <p:txBody>
          <a:bodyPr/>
          <a:lstStyle/>
          <a:p>
            <a:fld id="{DDBE135E-2566-4748-853C-8A3B78F0FB0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0083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353" y="323730"/>
            <a:ext cx="7906036" cy="421200"/>
          </a:xfrm>
        </p:spPr>
        <p:txBody>
          <a:bodyPr/>
          <a:lstStyle/>
          <a:p>
            <a:r>
              <a:rPr lang="en-GB" b="1" dirty="0"/>
              <a:t>Objectives of the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77371" y="1271154"/>
            <a:ext cx="8169088" cy="450000"/>
          </a:xfrm>
        </p:spPr>
        <p:txBody>
          <a:bodyPr/>
          <a:lstStyle/>
          <a:p>
            <a:r>
              <a:rPr lang="en-US" sz="1800" b="1" dirty="0"/>
              <a:t>This study asks two questions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</p:spPr>
        <p:txBody>
          <a:bodyPr/>
          <a:lstStyle/>
          <a:p>
            <a:fld id="{DDBE135E-2566-4748-853C-8A3B78F0FB00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01" name="Q1Card"/>
          <p:cNvSpPr/>
          <p:nvPr/>
        </p:nvSpPr>
        <p:spPr>
          <a:xfrm>
            <a:off x="477371" y="1850000"/>
            <a:ext cx="3900000" cy="1450000"/>
          </a:xfrm>
          <a:prstGeom prst="roundRect">
            <a:avLst>
              <a:gd name="adj" fmla="val 6000"/>
            </a:avLst>
          </a:prstGeom>
          <a:solidFill>
            <a:srgbClr val="0E73B9"/>
          </a:solidFill>
          <a:ln>
            <a:noFill/>
          </a:ln>
        </p:spPr>
        <p:txBody>
          <a:bodyPr wrap="square" lIns="228600" tIns="182880" rIns="228600" bIns="182880" anchor="ctr">
            <a:norm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bg1"/>
                </a:solidFill>
              </a:rPr>
              <a:t>Question 1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</a:rPr>
              <a:t>Does a Bangladesh-trained kiln classifier transfer to the Kathmandu Valley?</a:t>
            </a:r>
          </a:p>
        </p:txBody>
      </p:sp>
      <p:sp>
        <p:nvSpPr>
          <p:cNvPr id="102" name="Q2Card"/>
          <p:cNvSpPr/>
          <p:nvPr/>
        </p:nvSpPr>
        <p:spPr>
          <a:xfrm>
            <a:off x="4746459" y="1850000"/>
            <a:ext cx="3900000" cy="1450000"/>
          </a:xfrm>
          <a:prstGeom prst="roundRect">
            <a:avLst>
              <a:gd name="adj" fmla="val 6000"/>
            </a:avLst>
          </a:prstGeom>
          <a:solidFill>
            <a:srgbClr val="4F81BD"/>
          </a:solidFill>
          <a:ln>
            <a:noFill/>
          </a:ln>
        </p:spPr>
        <p:txBody>
          <a:bodyPr wrap="square" lIns="228600" tIns="182880" rIns="228600" bIns="182880" anchor="ctr">
            <a:norm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bg1"/>
                </a:solidFill>
              </a:rPr>
              <a:t>Question 2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</a:rPr>
              <a:t>Is there a measurable link between kiln locations and vegetation health (NDVI/EVI)?</a:t>
            </a:r>
          </a:p>
        </p:txBody>
      </p:sp>
      <p:sp>
        <p:nvSpPr>
          <p:cNvPr id="103" name="ContributionBar"/>
          <p:cNvSpPr/>
          <p:nvPr/>
        </p:nvSpPr>
        <p:spPr>
          <a:xfrm>
            <a:off x="477371" y="3500000"/>
            <a:ext cx="8169088" cy="750000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E73B9"/>
            </a:solidFill>
          </a:ln>
        </p:spPr>
        <p:txBody>
          <a:bodyPr wrap="square" lIns="228600" tIns="137160" rIns="228600" bIns="137160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0E73B9"/>
                </a:solidFill>
              </a:rPr>
              <a:t>Contribution: </a:t>
            </a:r>
            <a:r>
              <a:rPr lang="en-US" sz="1500" dirty="0">
                <a:solidFill>
                  <a:schemeClr val="tx1"/>
                </a:solidFill>
              </a:rPr>
              <a:t>EcoVision AI — a two-stage, reproducible framework using only free, open data</a:t>
            </a:r>
          </a:p>
        </p:txBody>
      </p:sp>
    </p:spTree>
    <p:extLst>
      <p:ext uri="{BB962C8B-B14F-4D97-AF65-F5344CB8AC3E}">
        <p14:creationId xmlns:p14="http://schemas.microsoft.com/office/powerpoint/2010/main" val="3071700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371" y="329305"/>
            <a:ext cx="7906036" cy="421200"/>
          </a:xfrm>
        </p:spPr>
        <p:txBody>
          <a:bodyPr/>
          <a:lstStyle/>
          <a:p>
            <a:r>
              <a:rPr lang="en-GB" b="1" dirty="0"/>
              <a:t>Methodology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77371" y="1271154"/>
            <a:ext cx="8169088" cy="500000"/>
          </a:xfrm>
        </p:spPr>
        <p:txBody>
          <a:bodyPr/>
          <a:lstStyle/>
          <a:p>
            <a:pPr>
              <a:buNone/>
            </a:pPr>
            <a:r>
              <a:rPr lang="en-US" sz="1800" b="1" dirty="0"/>
              <a:t>Two research designs, each testing a different kind of validity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</p:spPr>
        <p:txBody>
          <a:bodyPr/>
          <a:lstStyle/>
          <a:p>
            <a:fld id="{DDBE135E-2566-4748-853C-8A3B78F0FB00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01" name="Stage1Box"/>
          <p:cNvSpPr/>
          <p:nvPr/>
        </p:nvSpPr>
        <p:spPr>
          <a:xfrm>
            <a:off x="511915" y="1950000"/>
            <a:ext cx="3700000" cy="2200000"/>
          </a:xfrm>
          <a:prstGeom prst="roundRect">
            <a:avLst>
              <a:gd name="adj" fmla="val 6000"/>
            </a:avLst>
          </a:prstGeom>
          <a:solidFill>
            <a:srgbClr val="0E73B9"/>
          </a:solidFill>
          <a:ln>
            <a:noFill/>
          </a:ln>
        </p:spPr>
        <p:txBody>
          <a:bodyPr wrap="square" lIns="182880" tIns="137160" rIns="182880" bIns="137160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chemeClr val="bg1"/>
                </a:solidFill>
              </a:rPr>
              <a:t>Cross-Regional Transfer Design</a:t>
            </a:r>
          </a:p>
          <a:p>
            <a:pPr marL="228600" indent="-228600">
              <a:buFont typeface="Arial"/>
              <a:buChar char="–"/>
            </a:pPr>
            <a:r>
              <a:rPr lang="en-US" sz="1300" dirty="0">
                <a:solidFill>
                  <a:schemeClr val="bg1"/>
                </a:solidFill>
              </a:rPr>
              <a:t>Train on Bangladesh data; evaluate on an unseen Kathmandu dataset</a:t>
            </a:r>
          </a:p>
          <a:p>
            <a:pPr marL="228600" indent="-228600">
              <a:buFont typeface="Arial"/>
              <a:buChar char="–"/>
            </a:pPr>
            <a:r>
              <a:rPr lang="en-US" sz="1300" dirty="0">
                <a:solidFill>
                  <a:schemeClr val="bg1"/>
                </a:solidFill>
              </a:rPr>
              <a:t>Measures real generalization, not just in-domain accuracy</a:t>
            </a:r>
          </a:p>
          <a:p>
            <a:pPr marL="228600" indent="-228600">
              <a:buFont typeface="Arial"/>
              <a:buChar char="–"/>
            </a:pPr>
            <a:r>
              <a:rPr lang="en-US" sz="1300" dirty="0">
                <a:solidFill>
                  <a:schemeClr val="bg1"/>
                </a:solidFill>
              </a:rPr>
              <a:t>Kathmandu locations reviewed against current satellite imagery, not just a held-out split</a:t>
            </a:r>
          </a:p>
        </p:txBody>
      </p:sp>
      <p:sp>
        <p:nvSpPr>
          <p:cNvPr id="102" name="Stage2Box"/>
          <p:cNvSpPr/>
          <p:nvPr/>
        </p:nvSpPr>
        <p:spPr>
          <a:xfrm>
            <a:off x="4911915" y="1950000"/>
            <a:ext cx="3700000" cy="2200000"/>
          </a:xfrm>
          <a:prstGeom prst="roundRect">
            <a:avLst>
              <a:gd name="adj" fmla="val 6000"/>
            </a:avLst>
          </a:prstGeom>
          <a:solidFill>
            <a:srgbClr val="4F81BD"/>
          </a:solidFill>
          <a:ln>
            <a:noFill/>
          </a:ln>
        </p:spPr>
        <p:txBody>
          <a:bodyPr wrap="square" lIns="182880" tIns="137160" rIns="182880" bIns="137160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chemeClr val="bg1"/>
                </a:solidFill>
              </a:rPr>
              <a:t>Spatial Environmental Design</a:t>
            </a:r>
          </a:p>
          <a:p>
            <a:pPr marL="228600" indent="-228600">
              <a:buFont typeface="Arial"/>
              <a:buChar char="–"/>
            </a:pPr>
            <a:r>
              <a:rPr lang="en-US" sz="1300" dirty="0">
                <a:solidFill>
                  <a:schemeClr val="bg1"/>
                </a:solidFill>
              </a:rPr>
              <a:t>Compare vegetation at kilns AND with increasing distance from them</a:t>
            </a:r>
          </a:p>
          <a:p>
            <a:pPr marL="228600" indent="-228600">
              <a:buFont typeface="Arial"/>
              <a:buChar char="–"/>
            </a:pPr>
            <a:r>
              <a:rPr lang="en-US" sz="1300" dirty="0">
                <a:solidFill>
                  <a:schemeClr val="bg1"/>
                </a:solidFill>
              </a:rPr>
              <a:t>Captures a spatial gradient, not just a yes/no difference</a:t>
            </a:r>
          </a:p>
          <a:p>
            <a:pPr marL="228600" indent="-228600">
              <a:buFont typeface="Arial"/>
              <a:buChar char="–"/>
            </a:pPr>
            <a:r>
              <a:rPr lang="en-US" sz="1300" dirty="0">
                <a:solidFill>
                  <a:schemeClr val="bg1"/>
                </a:solidFill>
              </a:rPr>
              <a:t>Prediction-based sensitivity check</a:t>
            </a:r>
          </a:p>
        </p:txBody>
      </p:sp>
      <p:sp>
        <p:nvSpPr>
          <p:cNvPr id="103" name="Arrow"/>
          <p:cNvSpPr/>
          <p:nvPr/>
        </p:nvSpPr>
        <p:spPr>
          <a:xfrm>
            <a:off x="4261915" y="2900000"/>
            <a:ext cx="600000" cy="300000"/>
          </a:xfrm>
          <a:prstGeom prst="rightArrow">
            <a:avLst/>
          </a:prstGeom>
          <a:solidFill>
            <a:srgbClr val="7C7C7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24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77" y="352300"/>
            <a:ext cx="7906036" cy="421200"/>
          </a:xfrm>
        </p:spPr>
        <p:txBody>
          <a:bodyPr/>
          <a:lstStyle/>
          <a:p>
            <a:r>
              <a:rPr lang="en-GB" b="1" dirty="0"/>
              <a:t>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</p:spPr>
        <p:txBody>
          <a:bodyPr/>
          <a:lstStyle/>
          <a:p>
            <a:fld id="{DDBE135E-2566-4748-853C-8A3B78F0FB00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60" name="MethodsIntro"/>
          <p:cNvSpPr txBox="1"/>
          <p:nvPr/>
        </p:nvSpPr>
        <p:spPr>
          <a:xfrm>
            <a:off x="477371" y="1271154"/>
            <a:ext cx="8169088" cy="35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buNone/>
            </a:pPr>
            <a:r>
              <a:rPr lang="en-US" sz="1600" b="1" dirty="0"/>
              <a:t>Classification pipeline (Bangladesh training → Kathmandu transfer)</a:t>
            </a:r>
          </a:p>
        </p:txBody>
      </p:sp>
      <p:sp>
        <p:nvSpPr>
          <p:cNvPr id="70" name="Pipe70"/>
          <p:cNvSpPr/>
          <p:nvPr/>
        </p:nvSpPr>
        <p:spPr>
          <a:xfrm>
            <a:off x="477371" y="1680000"/>
            <a:ext cx="1236515" cy="750000"/>
          </a:xfrm>
          <a:prstGeom prst="roundRect">
            <a:avLst>
              <a:gd name="adj" fmla="val 8000"/>
            </a:avLst>
          </a:prstGeom>
          <a:solidFill>
            <a:srgbClr val="0E73B9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Sentinel-2</a:t>
            </a:r>
          </a:p>
          <a:p>
            <a:pPr algn="ctr">
              <a:buNone/>
            </a:pPr>
            <a:r>
              <a:rPr lang="en-US" sz="1300" b="0" dirty="0">
                <a:solidFill>
                  <a:schemeClr val="bg1"/>
                </a:solidFill>
              </a:rPr>
              <a:t>RGB only</a:t>
            </a:r>
          </a:p>
        </p:txBody>
      </p:sp>
      <p:sp>
        <p:nvSpPr>
          <p:cNvPr id="80" name="PipeArrow80"/>
          <p:cNvSpPr/>
          <p:nvPr/>
        </p:nvSpPr>
        <p:spPr>
          <a:xfrm>
            <a:off x="1713886" y="1955000"/>
            <a:ext cx="150000" cy="200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Pipe71"/>
          <p:cNvSpPr/>
          <p:nvPr/>
        </p:nvSpPr>
        <p:spPr>
          <a:xfrm>
            <a:off x="1863886" y="1680000"/>
            <a:ext cx="1236515" cy="750000"/>
          </a:xfrm>
          <a:prstGeom prst="roundRect">
            <a:avLst>
              <a:gd name="adj" fmla="val 8000"/>
            </a:avLst>
          </a:prstGeom>
          <a:solidFill>
            <a:srgbClr val="0E73B9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2–98%</a:t>
            </a:r>
          </a:p>
          <a:p>
            <a:pPr algn="ctr">
              <a:buNone/>
            </a:pPr>
            <a:r>
              <a:rPr lang="en-US" sz="1300" b="0" dirty="0">
                <a:solidFill>
                  <a:schemeClr val="bg1"/>
                </a:solidFill>
              </a:rPr>
              <a:t>normalize</a:t>
            </a:r>
          </a:p>
        </p:txBody>
      </p:sp>
      <p:sp>
        <p:nvSpPr>
          <p:cNvPr id="81" name="PipeArrow81"/>
          <p:cNvSpPr/>
          <p:nvPr/>
        </p:nvSpPr>
        <p:spPr>
          <a:xfrm>
            <a:off x="3100401" y="1955000"/>
            <a:ext cx="150000" cy="200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Pipe72"/>
          <p:cNvSpPr/>
          <p:nvPr/>
        </p:nvSpPr>
        <p:spPr>
          <a:xfrm>
            <a:off x="3250401" y="1680000"/>
            <a:ext cx="1236515" cy="750000"/>
          </a:xfrm>
          <a:prstGeom prst="roundRect">
            <a:avLst>
              <a:gd name="adj" fmla="val 8000"/>
            </a:avLst>
          </a:prstGeom>
          <a:solidFill>
            <a:srgbClr val="0E73B9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Resize</a:t>
            </a:r>
          </a:p>
          <a:p>
            <a:pPr algn="ctr">
              <a:buNone/>
            </a:pPr>
            <a:r>
              <a:rPr lang="en-US" sz="1300" b="0" dirty="0">
                <a:solidFill>
                  <a:schemeClr val="bg1"/>
                </a:solidFill>
              </a:rPr>
              <a:t>128×128</a:t>
            </a:r>
          </a:p>
        </p:txBody>
      </p:sp>
      <p:sp>
        <p:nvSpPr>
          <p:cNvPr id="82" name="PipeArrow82"/>
          <p:cNvSpPr/>
          <p:nvPr/>
        </p:nvSpPr>
        <p:spPr>
          <a:xfrm>
            <a:off x="4486916" y="1955000"/>
            <a:ext cx="150000" cy="200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Pipe73"/>
          <p:cNvSpPr/>
          <p:nvPr/>
        </p:nvSpPr>
        <p:spPr>
          <a:xfrm>
            <a:off x="4636916" y="1680000"/>
            <a:ext cx="1236515" cy="750000"/>
          </a:xfrm>
          <a:prstGeom prst="roundRect">
            <a:avLst>
              <a:gd name="adj" fmla="val 8000"/>
            </a:avLst>
          </a:prstGeom>
          <a:solidFill>
            <a:srgbClr val="3E6DB2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EfficientNetB0</a:t>
            </a:r>
          </a:p>
          <a:p>
            <a:pPr algn="ctr">
              <a:buNone/>
            </a:pPr>
            <a:r>
              <a:rPr lang="en-US" sz="1300" b="0" dirty="0">
                <a:solidFill>
                  <a:schemeClr val="bg1"/>
                </a:solidFill>
              </a:rPr>
              <a:t>frozen</a:t>
            </a:r>
          </a:p>
        </p:txBody>
      </p:sp>
      <p:sp>
        <p:nvSpPr>
          <p:cNvPr id="83" name="PipeArrow83"/>
          <p:cNvSpPr/>
          <p:nvPr/>
        </p:nvSpPr>
        <p:spPr>
          <a:xfrm>
            <a:off x="5873431" y="1955000"/>
            <a:ext cx="150000" cy="200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Pipe74"/>
          <p:cNvSpPr/>
          <p:nvPr/>
        </p:nvSpPr>
        <p:spPr>
          <a:xfrm>
            <a:off x="6023431" y="1680000"/>
            <a:ext cx="1236515" cy="750000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Dense 64</a:t>
            </a:r>
          </a:p>
          <a:p>
            <a:pPr algn="ctr">
              <a:buNone/>
            </a:pPr>
            <a:r>
              <a:rPr lang="en-US" sz="1300" b="0" dirty="0">
                <a:solidFill>
                  <a:schemeClr val="bg1"/>
                </a:solidFill>
              </a:rPr>
              <a:t>+ Dropout</a:t>
            </a:r>
          </a:p>
        </p:txBody>
      </p:sp>
      <p:sp>
        <p:nvSpPr>
          <p:cNvPr id="84" name="PipeArrow84"/>
          <p:cNvSpPr/>
          <p:nvPr/>
        </p:nvSpPr>
        <p:spPr>
          <a:xfrm>
            <a:off x="7259946" y="1955000"/>
            <a:ext cx="150000" cy="200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Pipe75"/>
          <p:cNvSpPr/>
          <p:nvPr/>
        </p:nvSpPr>
        <p:spPr>
          <a:xfrm>
            <a:off x="7409946" y="1680000"/>
            <a:ext cx="1236515" cy="750000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Kiln /</a:t>
            </a:r>
          </a:p>
          <a:p>
            <a:pPr algn="ctr">
              <a:buNone/>
            </a:pPr>
            <a:r>
              <a:rPr lang="en-US" sz="1300" b="0" dirty="0">
                <a:solidFill>
                  <a:schemeClr val="bg1"/>
                </a:solidFill>
              </a:rPr>
              <a:t>Non-kiln</a:t>
            </a:r>
          </a:p>
        </p:txBody>
      </p:sp>
      <p:sp>
        <p:nvSpPr>
          <p:cNvPr id="90" name="Outcome"/>
          <p:cNvSpPr txBox="1"/>
          <p:nvPr/>
        </p:nvSpPr>
        <p:spPr>
          <a:xfrm>
            <a:off x="477371" y="2490000"/>
            <a:ext cx="8169088" cy="28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1200" i="1" dirty="0">
                <a:solidFill>
                  <a:srgbClr val="7C7C7C"/>
                </a:solidFill>
              </a:rPr>
              <a:t>Classifier input: RGB only  |  NDVI/EVI: B2 (Blue), B4 (Red), B8 (NIR)</a:t>
            </a:r>
          </a:p>
        </p:txBody>
      </p:sp>
      <p:sp>
        <p:nvSpPr>
          <p:cNvPr id="100" name="DataCard100"/>
          <p:cNvSpPr/>
          <p:nvPr/>
        </p:nvSpPr>
        <p:spPr>
          <a:xfrm>
            <a:off x="477371" y="2870000"/>
            <a:ext cx="3900000" cy="1500000"/>
          </a:xfrm>
          <a:prstGeom prst="roundRect">
            <a:avLst>
              <a:gd name="adj" fmla="val 5000"/>
            </a:avLst>
          </a:prstGeom>
          <a:solidFill>
            <a:srgbClr val="0E73B9"/>
          </a:solidFill>
          <a:ln>
            <a:noFill/>
          </a:ln>
        </p:spPr>
        <p:txBody>
          <a:bodyPr wrap="square" lIns="182880" tIns="137160" rIns="182880" bIns="137160" anchor="t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chemeClr val="bg1"/>
                </a:solidFill>
              </a:rPr>
              <a:t>GEO-Bench m-brick-kiln (Bangladesh)</a:t>
            </a:r>
          </a:p>
          <a:p>
            <a:pPr marL="182880" indent="-182880">
              <a:buFont typeface="Arial"/>
              <a:buChar char="–"/>
            </a:pPr>
            <a:r>
              <a:rPr lang="en-US" sz="1200" dirty="0">
                <a:solidFill>
                  <a:schemeClr val="bg1"/>
                </a:solidFill>
              </a:rPr>
              <a:t>Train: 15,063 patches (5,063 kiln)</a:t>
            </a:r>
          </a:p>
          <a:p>
            <a:pPr marL="182880" indent="-182880">
              <a:buFont typeface="Arial"/>
              <a:buChar char="–"/>
            </a:pPr>
            <a:r>
              <a:rPr lang="en-US" sz="1200" dirty="0">
                <a:solidFill>
                  <a:schemeClr val="bg1"/>
                </a:solidFill>
              </a:rPr>
              <a:t>Validation: 999</a:t>
            </a:r>
          </a:p>
          <a:p>
            <a:pPr marL="182880" indent="-182880">
              <a:buFont typeface="Arial"/>
              <a:buChar char="–"/>
            </a:pPr>
            <a:r>
              <a:rPr lang="en-US" sz="1200" dirty="0">
                <a:solidFill>
                  <a:schemeClr val="bg1"/>
                </a:solidFill>
              </a:rPr>
              <a:t>Test: 999 (336 kiln)</a:t>
            </a:r>
          </a:p>
        </p:txBody>
      </p:sp>
      <p:sp>
        <p:nvSpPr>
          <p:cNvPr id="101" name="DataCard101"/>
          <p:cNvSpPr/>
          <p:nvPr/>
        </p:nvSpPr>
        <p:spPr>
          <a:xfrm>
            <a:off x="4746459" y="2870000"/>
            <a:ext cx="3900000" cy="1500000"/>
          </a:xfrm>
          <a:prstGeom prst="roundRect">
            <a:avLst>
              <a:gd name="adj" fmla="val 5000"/>
            </a:avLst>
          </a:prstGeom>
          <a:solidFill>
            <a:srgbClr val="4F81BD"/>
          </a:solidFill>
          <a:ln>
            <a:noFill/>
          </a:ln>
        </p:spPr>
        <p:txBody>
          <a:bodyPr wrap="square" lIns="182880" tIns="137160" rIns="182880" bIns="137160" anchor="t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chemeClr val="bg1"/>
                </a:solidFill>
              </a:rPr>
              <a:t>Kathmandu External Evaluation</a:t>
            </a:r>
          </a:p>
          <a:p>
            <a:pPr marL="182880" indent="-182880">
              <a:buFont typeface="Arial"/>
              <a:buChar char="–"/>
            </a:pPr>
            <a:r>
              <a:rPr lang="en-US" sz="1200" dirty="0">
                <a:solidFill>
                  <a:schemeClr val="bg1"/>
                </a:solidFill>
              </a:rPr>
              <a:t>108 kiln + 108 non-kiln reference points (216 total)</a:t>
            </a:r>
          </a:p>
          <a:p>
            <a:pPr marL="182880" indent="-182880">
              <a:buFont typeface="Arial"/>
              <a:buChar char="–"/>
            </a:pPr>
            <a:r>
              <a:rPr lang="en-US" sz="1200" dirty="0">
                <a:solidFill>
                  <a:schemeClr val="bg1"/>
                </a:solidFill>
              </a:rPr>
              <a:t>Non-kiln points sampled outside 300 m kiln-exclusion zones</a:t>
            </a:r>
          </a:p>
          <a:p>
            <a:pPr marL="182880" indent="-182880">
              <a:buFont typeface="Arial"/>
              <a:buChar char="–"/>
            </a:pPr>
            <a:r>
              <a:rPr lang="en-US" sz="1200" dirty="0">
                <a:solidFill>
                  <a:schemeClr val="bg1"/>
                </a:solidFill>
              </a:rPr>
              <a:t>Sentinel-2: 1 Dec 2025 – 1 May 2026</a:t>
            </a:r>
          </a:p>
          <a:p>
            <a:pPr marL="182880" indent="-182880">
              <a:buFont typeface="Arial"/>
              <a:buChar char="–"/>
            </a:pPr>
            <a:r>
              <a:rPr lang="en-US" sz="1200" dirty="0">
                <a:solidFill>
                  <a:schemeClr val="bg1"/>
                </a:solidFill>
              </a:rPr>
              <a:t>No Kathmandu-specific fine-tuning (zero-shot)</a:t>
            </a:r>
          </a:p>
        </p:txBody>
      </p:sp>
    </p:spTree>
    <p:extLst>
      <p:ext uri="{BB962C8B-B14F-4D97-AF65-F5344CB8AC3E}">
        <p14:creationId xmlns:p14="http://schemas.microsoft.com/office/powerpoint/2010/main" val="3073300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77" y="304092"/>
            <a:ext cx="7906036" cy="421200"/>
          </a:xfrm>
        </p:spPr>
        <p:txBody>
          <a:bodyPr/>
          <a:lstStyle/>
          <a:p>
            <a:r>
              <a:rPr lang="en-GB" b="1" dirty="0"/>
              <a:t>Results/Findings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</p:spPr>
        <p:txBody>
          <a:bodyPr/>
          <a:lstStyle/>
          <a:p>
            <a:fld id="{DDBE135E-2566-4748-853C-8A3B78F0FB00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50" name="Confusion Matri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371" y="1361724"/>
            <a:ext cx="3450000" cy="2849000"/>
          </a:xfrm>
          <a:prstGeom prst="rect">
            <a:avLst/>
          </a:prstGeom>
        </p:spPr>
      </p:pic>
      <p:sp>
        <p:nvSpPr>
          <p:cNvPr id="61" name="ExclusionNote"/>
          <p:cNvSpPr txBox="1"/>
          <p:nvPr/>
        </p:nvSpPr>
        <p:spPr>
          <a:xfrm>
            <a:off x="477371" y="3400000"/>
            <a:ext cx="4100000" cy="35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buNone/>
            </a:pPr>
            <a:r>
              <a:rPr lang="en-US" sz="1200" i="1" dirty="0">
                <a:solidFill>
                  <a:srgbClr val="7C7C7C"/>
                </a:solidFill>
              </a:rPr>
              <a:t>Hoffman, VSBK excluded from comparison (n=2, n=1) — too small to compare</a:t>
            </a:r>
          </a:p>
        </p:txBody>
      </p:sp>
      <p:graphicFrame>
        <p:nvGraphicFramePr>
          <p:cNvPr id="55" name="ComparisonTable"/>
          <p:cNvGraphicFramePr>
            <a:graphicFrameLocks noGrp="1"/>
          </p:cNvGraphicFramePr>
          <p:nvPr/>
        </p:nvGraphicFramePr>
        <p:xfrm>
          <a:off x="477371" y="1271154"/>
          <a:ext cx="4100000" cy="17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45720" marR="45720" marT="22860" marB="22860" anchor="ctr">
                    <a:solidFill>
                      <a:srgbClr val="0E73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Bangladesh</a:t>
                      </a:r>
                    </a:p>
                  </a:txBody>
                  <a:tcPr marL="45720" marR="45720" marT="22860" marB="22860" anchor="ctr">
                    <a:solidFill>
                      <a:srgbClr val="0E73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Kathmandu</a:t>
                      </a:r>
                    </a:p>
                  </a:txBody>
                  <a:tcPr marL="45720" marR="45720" marT="22860" marB="22860" anchor="ctr">
                    <a:solidFill>
                      <a:srgbClr val="0E73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Accuracy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95%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69%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Kiln precision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91%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82%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Kiln recall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93%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49%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Kiln F1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0.92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0.61</a:t>
                      </a:r>
                    </a:p>
                  </a:txBody>
                  <a:tcPr marL="45720" marR="45720" marT="22860" marB="228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" name="KilnTypeLine"/>
          <p:cNvSpPr txBox="1"/>
          <p:nvPr/>
        </p:nvSpPr>
        <p:spPr>
          <a:xfrm>
            <a:off x="477371" y="3060000"/>
            <a:ext cx="4100000" cy="30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buNone/>
            </a:pPr>
            <a:r>
              <a:rPr lang="en-US" sz="1300" dirty="0"/>
              <a:t>By type: Zig-Zag (n=63) 54% · FCBTK (n=42) 40%</a:t>
            </a:r>
          </a:p>
        </p:txBody>
      </p:sp>
    </p:spTree>
    <p:extLst>
      <p:ext uri="{BB962C8B-B14F-4D97-AF65-F5344CB8AC3E}">
        <p14:creationId xmlns:p14="http://schemas.microsoft.com/office/powerpoint/2010/main" val="3302419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77" y="308705"/>
            <a:ext cx="7906036" cy="421200"/>
          </a:xfrm>
        </p:spPr>
        <p:txBody>
          <a:bodyPr/>
          <a:lstStyle/>
          <a:p>
            <a:r>
              <a:rPr lang="en-GB" b="1" dirty="0"/>
              <a:t>Results/Findings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</p:spPr>
        <p:txBody>
          <a:bodyPr/>
          <a:lstStyle/>
          <a:p>
            <a:fld id="{DDBE135E-2566-4748-853C-8A3B78F0FB00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50" name="Distance Gradient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915" y="1271154"/>
            <a:ext cx="4596000" cy="2050000"/>
          </a:xfrm>
          <a:prstGeom prst="rect">
            <a:avLst/>
          </a:prstGeom>
        </p:spPr>
      </p:pic>
      <p:sp>
        <p:nvSpPr>
          <p:cNvPr id="213" name="NearFarLine"/>
          <p:cNvSpPr txBox="1"/>
          <p:nvPr/>
        </p:nvSpPr>
        <p:spPr>
          <a:xfrm>
            <a:off x="477371" y="3350000"/>
            <a:ext cx="8169088" cy="25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>
              <a:buNone/>
            </a:pPr>
            <a:r>
              <a:rPr lang="fr-FR" sz="1300" b="1" dirty="0" err="1"/>
              <a:t>Kiln</a:t>
            </a:r>
            <a:r>
              <a:rPr lang="fr-FR" sz="1300" b="1" dirty="0"/>
              <a:t> locations vs. non-</a:t>
            </a:r>
            <a:r>
              <a:rPr lang="fr-FR" sz="1300" b="1" dirty="0" err="1"/>
              <a:t>kiln</a:t>
            </a:r>
            <a:r>
              <a:rPr lang="fr-FR" sz="1300" b="1" dirty="0"/>
              <a:t> </a:t>
            </a:r>
            <a:r>
              <a:rPr lang="fr-FR" sz="1300" b="1" dirty="0" err="1"/>
              <a:t>reference</a:t>
            </a:r>
            <a:r>
              <a:rPr lang="fr-FR" sz="1300" b="1" dirty="0"/>
              <a:t> points</a:t>
            </a:r>
            <a:r>
              <a:rPr lang="en-US" sz="1300" b="1" dirty="0">
                <a:solidFill>
                  <a:srgbClr val="404040"/>
                </a:solidFill>
              </a:rPr>
              <a:t>: </a:t>
            </a:r>
            <a:r>
              <a:rPr lang="en-US" sz="1300" b="1" dirty="0">
                <a:solidFill>
                  <a:srgbClr val="1F77B4"/>
                </a:solidFill>
              </a:rPr>
              <a:t>NDVI 0.22 vs 0.52</a:t>
            </a:r>
            <a:r>
              <a:rPr lang="en-US" sz="1300" b="1" dirty="0">
                <a:solidFill>
                  <a:srgbClr val="404040"/>
                </a:solidFill>
              </a:rPr>
              <a:t>  ·  </a:t>
            </a:r>
            <a:r>
              <a:rPr lang="en-US" sz="1300" b="1" dirty="0">
                <a:solidFill>
                  <a:srgbClr val="FF7F0E"/>
                </a:solidFill>
              </a:rPr>
              <a:t>EVI 0.14 vs 0.32</a:t>
            </a:r>
          </a:p>
        </p:txBody>
      </p:sp>
      <p:sp>
        <p:nvSpPr>
          <p:cNvPr id="210" name="RangeLine"/>
          <p:cNvSpPr txBox="1"/>
          <p:nvPr/>
        </p:nvSpPr>
        <p:spPr>
          <a:xfrm>
            <a:off x="477371" y="3610000"/>
            <a:ext cx="8169088" cy="25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1400" b="1" dirty="0">
                <a:solidFill>
                  <a:srgbClr val="404040"/>
                </a:solidFill>
              </a:rPr>
              <a:t>By distance: </a:t>
            </a:r>
            <a:r>
              <a:rPr lang="en-US" sz="1300" b="1" dirty="0">
                <a:solidFill>
                  <a:srgbClr val="1F77B4"/>
                </a:solidFill>
              </a:rPr>
              <a:t>NDVI 0.22 → 0.32</a:t>
            </a:r>
            <a:r>
              <a:rPr lang="en-US" sz="1300" b="1" dirty="0">
                <a:solidFill>
                  <a:srgbClr val="404040"/>
                </a:solidFill>
              </a:rPr>
              <a:t>  ·  </a:t>
            </a:r>
            <a:r>
              <a:rPr lang="en-US" sz="1300" b="1" dirty="0">
                <a:solidFill>
                  <a:srgbClr val="FF7F0E"/>
                </a:solidFill>
              </a:rPr>
              <a:t>EVI: 0.14 → 0.20</a:t>
            </a:r>
          </a:p>
        </p:txBody>
      </p:sp>
      <p:sp>
        <p:nvSpPr>
          <p:cNvPr id="211" name="AnovaLine"/>
          <p:cNvSpPr txBox="1"/>
          <p:nvPr/>
        </p:nvSpPr>
        <p:spPr>
          <a:xfrm>
            <a:off x="477371" y="3870000"/>
            <a:ext cx="8169088" cy="21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1200" dirty="0">
                <a:solidFill>
                  <a:srgbClr val="0E73B9"/>
                </a:solidFill>
              </a:rPr>
              <a:t>Repeated-measures ANOVA: F(3, 321) = 134.88, p &lt; .001</a:t>
            </a:r>
          </a:p>
        </p:txBody>
      </p:sp>
      <p:sp>
        <p:nvSpPr>
          <p:cNvPr id="212" name="CaveatLine"/>
          <p:cNvSpPr txBox="1"/>
          <p:nvPr/>
        </p:nvSpPr>
        <p:spPr>
          <a:xfrm>
            <a:off x="477371" y="4090000"/>
            <a:ext cx="8169088" cy="25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1300" i="1" dirty="0">
                <a:solidFill>
                  <a:srgbClr val="7C7C7C"/>
                </a:solidFill>
              </a:rPr>
              <a:t>A strong spatial association — holds even on the classifier’s own predictions — but not proof of causal impact</a:t>
            </a:r>
          </a:p>
        </p:txBody>
      </p:sp>
    </p:spTree>
    <p:extLst>
      <p:ext uri="{BB962C8B-B14F-4D97-AF65-F5344CB8AC3E}">
        <p14:creationId xmlns:p14="http://schemas.microsoft.com/office/powerpoint/2010/main" val="3451237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77" y="354526"/>
            <a:ext cx="7906036" cy="421200"/>
          </a:xfrm>
        </p:spPr>
        <p:txBody>
          <a:bodyPr/>
          <a:lstStyle/>
          <a:p>
            <a:r>
              <a:rPr lang="en-GB" b="1" dirty="0"/>
              <a:t>Results/Findings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</p:spPr>
        <p:txBody>
          <a:bodyPr/>
          <a:lstStyle/>
          <a:p>
            <a:fld id="{DDBE135E-2566-4748-853C-8A3B78F0FB01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60" name="Headline"/>
          <p:cNvSpPr txBox="1"/>
          <p:nvPr/>
        </p:nvSpPr>
        <p:spPr>
          <a:xfrm>
            <a:off x="477369" y="1122449"/>
            <a:ext cx="8169088" cy="35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buNone/>
            </a:pPr>
            <a:r>
              <a:rPr lang="en-US" sz="1600" b="1" dirty="0"/>
              <a:t>The environmental association persists using the model’s own predictions</a:t>
            </a:r>
          </a:p>
        </p:txBody>
      </p:sp>
      <p:pic>
        <p:nvPicPr>
          <p:cNvPr id="70" name="Prediction Boxplo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620" y="1368000"/>
            <a:ext cx="6113979" cy="2158554"/>
          </a:xfrm>
          <a:prstGeom prst="rect">
            <a:avLst/>
          </a:prstGeom>
        </p:spPr>
      </p:pic>
      <p:sp>
        <p:nvSpPr>
          <p:cNvPr id="80" name="Card80"/>
          <p:cNvSpPr/>
          <p:nvPr/>
        </p:nvSpPr>
        <p:spPr>
          <a:xfrm>
            <a:off x="477371" y="3520000"/>
            <a:ext cx="2656362" cy="650000"/>
          </a:xfrm>
          <a:prstGeom prst="roundRect">
            <a:avLst>
              <a:gd name="adj" fmla="val 8000"/>
            </a:avLst>
          </a:prstGeom>
          <a:solidFill>
            <a:srgbClr val="3E6DB2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chemeClr val="bg1"/>
                </a:solidFill>
              </a:rPr>
              <a:t>Predicted kiln (n=65)</a:t>
            </a:r>
          </a:p>
          <a:p>
            <a:pPr algn="ctr">
              <a:buNone/>
            </a:pPr>
            <a:r>
              <a:rPr lang="en-US" sz="1150" dirty="0">
                <a:solidFill>
                  <a:schemeClr val="bg1"/>
                </a:solidFill>
              </a:rPr>
              <a:t>NDVI 0.235 · EVI 0.146</a:t>
            </a:r>
          </a:p>
        </p:txBody>
      </p:sp>
      <p:sp>
        <p:nvSpPr>
          <p:cNvPr id="81" name="Card81"/>
          <p:cNvSpPr/>
          <p:nvPr/>
        </p:nvSpPr>
        <p:spPr>
          <a:xfrm>
            <a:off x="3233733" y="3520000"/>
            <a:ext cx="2656362" cy="650000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chemeClr val="bg1"/>
                </a:solidFill>
              </a:rPr>
              <a:t>Predicted non-kiln (n=151)</a:t>
            </a:r>
          </a:p>
          <a:p>
            <a:pPr algn="ctr">
              <a:buNone/>
            </a:pPr>
            <a:r>
              <a:rPr lang="en-US" sz="1150" dirty="0">
                <a:solidFill>
                  <a:schemeClr val="bg1"/>
                </a:solidFill>
              </a:rPr>
              <a:t>NDVI 0.427 · EVI 0.268</a:t>
            </a:r>
          </a:p>
        </p:txBody>
      </p:sp>
      <p:sp>
        <p:nvSpPr>
          <p:cNvPr id="82" name="Card82"/>
          <p:cNvSpPr/>
          <p:nvPr/>
        </p:nvSpPr>
        <p:spPr>
          <a:xfrm>
            <a:off x="5990095" y="3520000"/>
            <a:ext cx="2656362" cy="650000"/>
          </a:xfrm>
          <a:prstGeom prst="roundRect">
            <a:avLst>
              <a:gd name="adj" fmla="val 8000"/>
            </a:avLst>
          </a:prstGeom>
          <a:solidFill>
            <a:srgbClr val="0E73B9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chemeClr val="bg1"/>
                </a:solidFill>
              </a:rPr>
              <a:t>Effect size</a:t>
            </a:r>
          </a:p>
          <a:p>
            <a:pPr algn="ctr">
              <a:buNone/>
            </a:pPr>
            <a:r>
              <a:rPr lang="en-US" sz="1150" dirty="0">
                <a:solidFill>
                  <a:schemeClr val="bg1"/>
                </a:solidFill>
              </a:rPr>
              <a:t>NDVI d = 1.05 · EVI d = 1.06</a:t>
            </a:r>
          </a:p>
        </p:txBody>
      </p:sp>
      <p:sp>
        <p:nvSpPr>
          <p:cNvPr id="90" name="Caveat"/>
          <p:cNvSpPr txBox="1"/>
          <p:nvPr/>
        </p:nvSpPr>
        <p:spPr>
          <a:xfrm>
            <a:off x="477371" y="4220000"/>
            <a:ext cx="8169088" cy="23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1300" i="1" dirty="0">
                <a:solidFill>
                  <a:srgbClr val="7C7C7C"/>
                </a:solidFill>
              </a:rPr>
              <a:t>Prediction-based analysis is a sensitivity check — environmental association is not causal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77" y="382702"/>
            <a:ext cx="7906036" cy="421200"/>
          </a:xfrm>
        </p:spPr>
        <p:txBody>
          <a:bodyPr/>
          <a:lstStyle/>
          <a:p>
            <a:r>
              <a:rPr lang="en-GB" b="1" dirty="0"/>
              <a:t>Conclusions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</p:spPr>
        <p:txBody>
          <a:bodyPr/>
          <a:lstStyle/>
          <a:p>
            <a:fld id="{DDBE135E-2566-4748-853C-8A3B78F0FB00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101" name="Stat101"/>
          <p:cNvSpPr/>
          <p:nvPr/>
        </p:nvSpPr>
        <p:spPr>
          <a:xfrm>
            <a:off x="477371" y="1250000"/>
            <a:ext cx="2623029" cy="900000"/>
          </a:xfrm>
          <a:prstGeom prst="roundRect">
            <a:avLst>
              <a:gd name="adj" fmla="val 6000"/>
            </a:avLst>
          </a:prstGeom>
          <a:solidFill>
            <a:srgbClr val="0E73B9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69%</a:t>
            </a:r>
          </a:p>
          <a:p>
            <a:pPr algn="ctr">
              <a:buNone/>
            </a:pPr>
            <a:r>
              <a:rPr lang="en-US" sz="1100" dirty="0">
                <a:solidFill>
                  <a:schemeClr val="bg1"/>
                </a:solidFill>
              </a:rPr>
              <a:t>Cross-regional accuracy (50% = chance)</a:t>
            </a:r>
          </a:p>
        </p:txBody>
      </p:sp>
      <p:sp>
        <p:nvSpPr>
          <p:cNvPr id="102" name="Stat102"/>
          <p:cNvSpPr/>
          <p:nvPr/>
        </p:nvSpPr>
        <p:spPr>
          <a:xfrm>
            <a:off x="3250400" y="1250000"/>
            <a:ext cx="2623029" cy="900000"/>
          </a:xfrm>
          <a:prstGeom prst="roundRect">
            <a:avLst>
              <a:gd name="adj" fmla="val 6000"/>
            </a:avLst>
          </a:prstGeom>
          <a:solidFill>
            <a:srgbClr val="4F81BD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d = 2.14 / 1.97</a:t>
            </a:r>
          </a:p>
          <a:p>
            <a:pPr algn="ctr">
              <a:buNone/>
            </a:pPr>
            <a:r>
              <a:rPr lang="en-US" sz="1050" dirty="0">
                <a:solidFill>
                  <a:schemeClr val="bg1"/>
                </a:solidFill>
              </a:rPr>
              <a:t>NDVI / EVI effect size</a:t>
            </a:r>
          </a:p>
        </p:txBody>
      </p:sp>
      <p:sp>
        <p:nvSpPr>
          <p:cNvPr id="103" name="Stat103"/>
          <p:cNvSpPr/>
          <p:nvPr/>
        </p:nvSpPr>
        <p:spPr>
          <a:xfrm>
            <a:off x="6023429" y="1250000"/>
            <a:ext cx="2623029" cy="900000"/>
          </a:xfrm>
          <a:prstGeom prst="roundRect">
            <a:avLst>
              <a:gd name="adj" fmla="val 6000"/>
            </a:avLst>
          </a:prstGeom>
          <a:solidFill>
            <a:srgbClr val="3E6DB2"/>
          </a:solidFill>
          <a:ln>
            <a:noFill/>
          </a:ln>
        </p:spPr>
        <p:txBody>
          <a:bodyPr wrap="square" lIns="91440" tIns="91440" rIns="91440" bIns="91440" anchor="ctr">
            <a:normAutofit lnSpcReduction="10000"/>
          </a:bodyPr>
          <a:lstStyle/>
          <a:p>
            <a:pPr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108</a:t>
            </a:r>
          </a:p>
          <a:p>
            <a:pPr algn="ctr">
              <a:buNone/>
            </a:pPr>
            <a:r>
              <a:rPr lang="en-US" sz="1100" dirty="0">
                <a:solidFill>
                  <a:schemeClr val="bg1"/>
                </a:solidFill>
              </a:rPr>
              <a:t> Kathmandu kiln reference locations </a:t>
            </a:r>
          </a:p>
          <a:p>
            <a:pPr algn="ctr">
              <a:buNone/>
            </a:pPr>
            <a:r>
              <a:rPr lang="en-US" sz="1100" dirty="0">
                <a:solidFill>
                  <a:schemeClr val="bg1"/>
                </a:solidFill>
              </a:rPr>
              <a:t>re-checked against current imagery</a:t>
            </a:r>
          </a:p>
        </p:txBody>
      </p:sp>
      <p:sp>
        <p:nvSpPr>
          <p:cNvPr id="104" name="HeadlineBar"/>
          <p:cNvSpPr/>
          <p:nvPr/>
        </p:nvSpPr>
        <p:spPr>
          <a:xfrm>
            <a:off x="477371" y="2200000"/>
            <a:ext cx="8169088" cy="900000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E73B9"/>
            </a:solidFill>
          </a:ln>
        </p:spPr>
        <p:txBody>
          <a:bodyPr wrap="square" lIns="228600" tIns="60960" rIns="228600" bIns="60960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E73B9"/>
                </a:solidFill>
              </a:rPr>
              <a:t>A reproducible proof-of-concept framework for satellite-based kiln monitoring and environmental screening</a:t>
            </a:r>
          </a:p>
          <a:p>
            <a:pPr algn="ctr">
              <a:buNone/>
            </a:pPr>
            <a:r>
              <a:rPr lang="en-US" sz="1150" dirty="0">
                <a:solidFill>
                  <a:schemeClr val="tx1"/>
                </a:solidFill>
              </a:rPr>
              <a:t>Demonstrates feasibility of cross-regional kiln classification and reveals strong spatial associations with vegetation indices</a:t>
            </a:r>
          </a:p>
          <a:p>
            <a:pPr algn="ctr">
              <a:buNone/>
            </a:pPr>
            <a:r>
              <a:rPr lang="en-US" sz="1100" i="1" dirty="0">
                <a:solidFill>
                  <a:srgbClr val="404040"/>
                </a:solidFill>
              </a:rPr>
              <a:t>Prediction-based screening confirms the same directional environmental signal</a:t>
            </a:r>
          </a:p>
        </p:txBody>
      </p:sp>
      <p:sp>
        <p:nvSpPr>
          <p:cNvPr id="105" name="SmallNote"/>
          <p:cNvSpPr txBox="1"/>
          <p:nvPr/>
        </p:nvSpPr>
        <p:spPr>
          <a:xfrm>
            <a:off x="423583" y="4190000"/>
            <a:ext cx="8222876" cy="25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i="1" dirty="0">
                <a:solidFill>
                  <a:srgbClr val="7C7C7C"/>
                </a:solidFill>
              </a:rPr>
              <a:t>Next: Kathmandu fine-tuning · spatially controlled modeling · newer benchmarks (e.g., SentinelKilnDB) · multi-year tracking</a:t>
            </a:r>
          </a:p>
        </p:txBody>
      </p:sp>
      <p:sp>
        <p:nvSpPr>
          <p:cNvPr id="110" name="LimitationsHeader"/>
          <p:cNvSpPr txBox="1"/>
          <p:nvPr/>
        </p:nvSpPr>
        <p:spPr>
          <a:xfrm>
            <a:off x="477371" y="3130000"/>
            <a:ext cx="8169088" cy="21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buNone/>
            </a:pPr>
            <a:r>
              <a:rPr lang="en-US" sz="1400" b="1" dirty="0">
                <a:solidFill>
                  <a:srgbClr val="7C7C7C"/>
                </a:solidFill>
              </a:rPr>
              <a:t>Limitations</a:t>
            </a:r>
          </a:p>
        </p:txBody>
      </p:sp>
      <p:sp>
        <p:nvSpPr>
          <p:cNvPr id="120" name="Limit120"/>
          <p:cNvSpPr/>
          <p:nvPr/>
        </p:nvSpPr>
        <p:spPr>
          <a:xfrm>
            <a:off x="477371" y="3360000"/>
            <a:ext cx="1569817" cy="780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A6A6A6"/>
            </a:solidFill>
          </a:ln>
        </p:spPr>
        <p:txBody>
          <a:bodyPr wrap="square" lIns="73152" tIns="45720" rIns="73152" bIns="45720" anchor="ctr">
            <a:normAutofit/>
          </a:bodyPr>
          <a:lstStyle/>
          <a:p>
            <a:pPr algn="ctr">
              <a:buNone/>
            </a:pPr>
            <a:r>
              <a:rPr lang="en-US" sz="1000" dirty="0">
                <a:solidFill>
                  <a:srgbClr val="404040"/>
                </a:solidFill>
              </a:rPr>
              <a:t>69% accuracy — notable domain shift</a:t>
            </a:r>
          </a:p>
        </p:txBody>
      </p:sp>
      <p:sp>
        <p:nvSpPr>
          <p:cNvPr id="121" name="Limit121"/>
          <p:cNvSpPr/>
          <p:nvPr/>
        </p:nvSpPr>
        <p:spPr>
          <a:xfrm>
            <a:off x="2127188" y="3360000"/>
            <a:ext cx="1569817" cy="780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A6A6A6"/>
            </a:solidFill>
          </a:ln>
        </p:spPr>
        <p:txBody>
          <a:bodyPr wrap="square" lIns="73152" tIns="45720" rIns="73152" bIns="45720" anchor="ctr">
            <a:normAutofit/>
          </a:bodyPr>
          <a:lstStyle/>
          <a:p>
            <a:pPr algn="ctr">
              <a:buNone/>
            </a:pPr>
            <a:r>
              <a:rPr lang="en-US" sz="1000" dirty="0">
                <a:solidFill>
                  <a:srgbClr val="404040"/>
                </a:solidFill>
              </a:rPr>
              <a:t>Small Kathmandu sample (108 + 108)</a:t>
            </a:r>
          </a:p>
        </p:txBody>
      </p:sp>
      <p:sp>
        <p:nvSpPr>
          <p:cNvPr id="122" name="Limit122"/>
          <p:cNvSpPr/>
          <p:nvPr/>
        </p:nvSpPr>
        <p:spPr>
          <a:xfrm>
            <a:off x="3777005" y="3360000"/>
            <a:ext cx="1569817" cy="780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A6A6A6"/>
            </a:solidFill>
          </a:ln>
        </p:spPr>
        <p:txBody>
          <a:bodyPr wrap="square" lIns="73152" tIns="45720" rIns="73152" bIns="45720" anchor="ctr">
            <a:normAutofit/>
          </a:bodyPr>
          <a:lstStyle/>
          <a:p>
            <a:pPr algn="ctr">
              <a:buNone/>
            </a:pPr>
            <a:r>
              <a:rPr lang="en-US" sz="1000" dirty="0">
                <a:solidFill>
                  <a:srgbClr val="404040"/>
                </a:solidFill>
              </a:rPr>
              <a:t>Spatial association, not proven causal</a:t>
            </a:r>
          </a:p>
        </p:txBody>
      </p:sp>
      <p:sp>
        <p:nvSpPr>
          <p:cNvPr id="123" name="Limit123"/>
          <p:cNvSpPr/>
          <p:nvPr/>
        </p:nvSpPr>
        <p:spPr>
          <a:xfrm>
            <a:off x="5426822" y="3360000"/>
            <a:ext cx="1569817" cy="780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A6A6A6"/>
            </a:solidFill>
          </a:ln>
        </p:spPr>
        <p:txBody>
          <a:bodyPr wrap="square" lIns="73152" tIns="45720" rIns="73152" bIns="45720" anchor="ctr">
            <a:normAutofit/>
          </a:bodyPr>
          <a:lstStyle/>
          <a:p>
            <a:pPr algn="ctr">
              <a:buNone/>
            </a:pPr>
            <a:r>
              <a:rPr lang="en-US" sz="1000" dirty="0">
                <a:solidFill>
                  <a:srgbClr val="404040"/>
                </a:solidFill>
              </a:rPr>
              <a:t>Spatial autocorrelation not modeled</a:t>
            </a:r>
          </a:p>
        </p:txBody>
      </p:sp>
      <p:sp>
        <p:nvSpPr>
          <p:cNvPr id="124" name="Limit124"/>
          <p:cNvSpPr/>
          <p:nvPr/>
        </p:nvSpPr>
        <p:spPr>
          <a:xfrm>
            <a:off x="7076639" y="3360000"/>
            <a:ext cx="1569817" cy="780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A6A6A6"/>
            </a:solidFill>
          </a:ln>
        </p:spPr>
        <p:txBody>
          <a:bodyPr wrap="square" lIns="73152" tIns="45720" rIns="73152" bIns="45720" anchor="ctr">
            <a:normAutofit/>
          </a:bodyPr>
          <a:lstStyle/>
          <a:p>
            <a:pPr algn="ctr">
              <a:buNone/>
            </a:pPr>
            <a:r>
              <a:rPr lang="en-US" sz="1000" dirty="0">
                <a:solidFill>
                  <a:srgbClr val="404040"/>
                </a:solidFill>
              </a:rPr>
              <a:t>Zero-shot — no Kathmandu fine-tuning</a:t>
            </a:r>
          </a:p>
        </p:txBody>
      </p:sp>
    </p:spTree>
    <p:extLst>
      <p:ext uri="{BB962C8B-B14F-4D97-AF65-F5344CB8AC3E}">
        <p14:creationId xmlns:p14="http://schemas.microsoft.com/office/powerpoint/2010/main" val="3859708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77" y="349377"/>
            <a:ext cx="7906036" cy="421200"/>
          </a:xfrm>
        </p:spPr>
        <p:txBody>
          <a:bodyPr/>
          <a:lstStyle/>
          <a:p>
            <a:r>
              <a:rPr lang="en-GB" b="1" dirty="0"/>
              <a:t>Acknowledgements/ 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0050" y="1150000"/>
            <a:ext cx="8477550" cy="3393200"/>
          </a:xfrm>
        </p:spPr>
        <p:txBody>
          <a:bodyPr>
            <a:normAutofit lnSpcReduction="10000"/>
          </a:bodyPr>
          <a:lstStyle/>
          <a:p>
            <a:r>
              <a:rPr lang="en-US" sz="1300" b="1" dirty="0"/>
              <a:t>Acknowledgements</a:t>
            </a:r>
          </a:p>
          <a:p>
            <a:pPr lvl="1"/>
            <a:r>
              <a:rPr lang="en-US" sz="1200" dirty="0"/>
              <a:t>Department of Computer Science and Information Technology, St. Xavier's College, Maitighar</a:t>
            </a:r>
          </a:p>
          <a:p>
            <a:r>
              <a:rPr lang="en-US" sz="1300" b="1" dirty="0"/>
              <a:t>Key References</a:t>
            </a:r>
          </a:p>
          <a:p>
            <a:pPr lvl="1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Eil, A., et al. (2020). Dirty Stacks, High Stakes: An Overview of Brick Sector in South Asia. World Bank.</a:t>
            </a:r>
          </a:p>
          <a:p>
            <a:pPr lvl="1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Zhong, M., et al. (2019). Nepal Ambient Monitoring and Source Testing Experiment (NAMaSTE): Emissions of Particulate Matter and Sulfur Dioxide from Vehicles and Brick Kilns and Their Impacts on Air Quality in the Kathmandu Valley, Nepal. Atmospheric Chemistry and Physics, 19(12), 8209–8228.</a:t>
            </a:r>
          </a:p>
          <a:p>
            <a:pPr lvl="1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Lee, J., et al. (2021). Scalable deep learning to identify brick kilns and aid regulatory capacity. PNAS, 118(17).</a:t>
            </a:r>
          </a:p>
          <a:p>
            <a:pPr lvl="1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Lacoste, A., et al. (2023). GEO-Bench: Toward Foundation Models for Earth Monitoring. NeurIPS 36.</a:t>
            </a:r>
          </a:p>
          <a:p>
            <a:pPr lvl="1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Gorelick, N., et al. (2017). Google Earth Engine: Planetary-scale geospatial analysis for everyone. Remote Sensing of Environment, 202, 18–27.</a:t>
            </a:r>
          </a:p>
          <a:p>
            <a:pPr lvl="1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Mondal, R., et al. (2025). SentinelKilnDB: A Large-Scale Dataset and Benchmark for OBB Brick Kiln Detection in South Asia Using Satellite Imagery. NeurIPS 38.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79613" y="4881249"/>
            <a:ext cx="750000" cy="191861"/>
          </a:xfrm>
        </p:spPr>
        <p:txBody>
          <a:bodyPr/>
          <a:lstStyle/>
          <a:p>
            <a:fld id="{DDBE135E-2566-4748-853C-8A3B78F0FB00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7585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45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3462149"/>
      </p:ext>
    </p:extLst>
  </p:cSld>
  <p:clrMapOvr>
    <a:masterClrMapping/>
  </p:clrMapOvr>
</p:sld>
</file>

<file path=ppt/theme/theme1.xml><?xml version="1.0" encoding="utf-8"?>
<a:theme xmlns:a="http://schemas.openxmlformats.org/drawingml/2006/main" name="TCD_PPT_Calibri_Option2a">
  <a:themeElements>
    <a:clrScheme name="Trinity College">
      <a:dk1>
        <a:sysClr val="windowText" lastClr="000000"/>
      </a:dk1>
      <a:lt1>
        <a:sysClr val="window" lastClr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Trinity Colleg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TCD_PPT_Calibri_Option2a.potx</Template>
  <TotalTime>332</TotalTime>
  <Words>901</Words>
  <Application>Microsoft Office PowerPoint</Application>
  <PresentationFormat>On-screen Show (16:9)</PresentationFormat>
  <Paragraphs>121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Minion Pro</vt:lpstr>
      <vt:lpstr>Poppins</vt:lpstr>
      <vt:lpstr>TCD_PPT_Calibri_Option2a</vt:lpstr>
      <vt:lpstr>EcoVision AI:  An Integrated Artificial Intelligence Framework for Brick Kiln Classification and Environmental Pattern Analysis Using Multi-Spectral Satellite Imagery</vt:lpstr>
      <vt:lpstr>Introduction</vt:lpstr>
      <vt:lpstr>Objectives of the Study</vt:lpstr>
      <vt:lpstr>Methodology</vt:lpstr>
      <vt:lpstr>Methods</vt:lpstr>
      <vt:lpstr>Results/Findings</vt:lpstr>
      <vt:lpstr>Results/Findings</vt:lpstr>
      <vt:lpstr>Results/Findings</vt:lpstr>
      <vt:lpstr>Conclusions</vt:lpstr>
      <vt:lpstr>Acknowledgements/ References</vt:lpstr>
      <vt:lpstr>Thank You!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dtpgraphics</dc:creator>
  <cp:lastModifiedBy>suravi poudel</cp:lastModifiedBy>
  <cp:revision>75</cp:revision>
  <cp:lastPrinted>2014-12-16T10:33:11Z</cp:lastPrinted>
  <dcterms:created xsi:type="dcterms:W3CDTF">2013-07-29T09:34:50Z</dcterms:created>
  <dcterms:modified xsi:type="dcterms:W3CDTF">2026-09-14T13:13:00Z</dcterms:modified>
</cp:coreProperties>
</file>